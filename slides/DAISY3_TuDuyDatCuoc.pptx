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2011680"/>
            <a:ext cx="2926080" cy="2926080"/>
          </a:xfrm>
          <a:prstGeom prst="ellipse">
            <a:avLst/>
          </a:prstGeom>
          <a:solidFill>
            <a:srgbClr val="27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737360" y="6035040"/>
            <a:ext cx="2377440" cy="2377440"/>
          </a:xfrm>
          <a:prstGeom prst="ellipse">
            <a:avLst/>
          </a:prstGeom>
          <a:solidFill>
            <a:srgbClr val="27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ĐỒ ÁN MÔN HỌC  ·  CHUYỂN ĐỔI SÁCH NÓI CHUẨN DAISY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Tư Duy Đặt Cược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CADCFC"/>
                </a:solidFill>
                <a:latin typeface="Calibri"/>
              </a:rPr>
              <a:t>Xây dựng sách nói chuẩn DAISY 3 từ bản scan tiếng Việt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206240"/>
            <a:ext cx="5120640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2A93B"/>
                </a:solidFill>
                <a:latin typeface="Calibri"/>
              </a:rPr>
              <a:t>NHÓM THỰC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MSSV: 25C11016  ·  25C11003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480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2A93B"/>
                </a:solidFill>
                <a:latin typeface="Calibri"/>
              </a:rPr>
              <a:t>SÁCH GỐC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00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Annie Duke — NXB Trẻ, 2018/2020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MỤC TIÊU &amp; ĐẦU VÀO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Từ bản scan không có chữ, đến sách nói chuẩn quốc tế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400800" cy="4389120"/>
          </a:xfrm>
          <a:prstGeom prst="roundRect">
            <a:avLst>
              <a:gd name="adj" fmla="val 4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MỤC TIÊU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8521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15000"/>
              </a:lnSpc>
              <a:spcAft>
                <a:spcPts val="1400"/>
              </a:spcAft>
              <a:buFont typeface="Calibri"/>
              <a:buChar char="•"/>
            </a:pPr>
            <a:r>
              <a:rPr sz="1500">
                <a:solidFill>
                  <a:srgbClr val="1A1A2E"/>
                </a:solidFill>
                <a:latin typeface="Calibri"/>
              </a:rPr>
              <a:t>Chuyển sách in (bản scan) sang sách nói điện tử theo chuẩn DAISY 3 (ANSI/NISO Z39.86)</a:t>
            </a:r>
          </a:p>
          <a:p>
            <a:pPr indent="-182880" marL="182880">
              <a:lnSpc>
                <a:spcPct val="115000"/>
              </a:lnSpc>
              <a:spcAft>
                <a:spcPts val="1400"/>
              </a:spcAft>
              <a:buFont typeface="Calibri"/>
              <a:buChar char="•"/>
            </a:pPr>
            <a:r>
              <a:rPr sz="1500">
                <a:solidFill>
                  <a:srgbClr val="1A1A2E"/>
                </a:solidFill>
                <a:latin typeface="Calibri"/>
              </a:rPr>
              <a:t>Đồng bộ văn bản – audio – điều hướng (chương/trang/câu) cho người khiếm thị / khó đọc chữ in</a:t>
            </a:r>
          </a:p>
          <a:p>
            <a:pPr indent="-182880" marL="182880">
              <a:lnSpc>
                <a:spcPct val="115000"/>
              </a:lnSpc>
              <a:spcAft>
                <a:spcPts val="1400"/>
              </a:spcAft>
              <a:buFont typeface="Calibri"/>
              <a:buChar char="•"/>
            </a:pPr>
            <a:r>
              <a:rPr sz="1500">
                <a:solidFill>
                  <a:srgbClr val="1A1A2E"/>
                </a:solidFill>
                <a:latin typeface="Calibri"/>
              </a:rPr>
              <a:t>Mỗi thành viên đóng góp tối thiểu 1 giờ audio thật, đóng gói đúng quy cách nộp bài môn học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737360"/>
            <a:ext cx="4206240" cy="438912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965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ĐẦU VÀO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42316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onsolas"/>
              </a:rPr>
              <a:t>data/book.pdf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971800"/>
            <a:ext cx="3657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322 trang — ảnh scan thuần,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KHÔNG có lớp chữ (text layer)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3977639"/>
            <a:ext cx="3657600" cy="18288"/>
          </a:xfrm>
          <a:prstGeom prst="rect">
            <a:avLst/>
          </a:prstGeom>
          <a:solidFill>
            <a:srgbClr val="354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160520"/>
            <a:ext cx="3657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1">
                <a:solidFill>
                  <a:srgbClr val="CADCFC"/>
                </a:solidFill>
                <a:latin typeface="Calibri"/>
              </a:rPr>
              <a:t>Xác nhận bằng cách đọc content stream PDF: không có font, không có lệnh vẽ chữ (Tj/TJ) — mỗi trang chỉ là một lệnh vẽ ảnh.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669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→ Bắt buộc phải OCR toàn bộ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08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PHƯƠNG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Quy trình 9 bước, tự động hoá theo từng lượt chạy (run)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2208276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08276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2938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Tách trang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95144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PDF → ảnh từng trang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0016" y="2208276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2208276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92938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295144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Tesseract dò dòng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+ VietOCR nhận chữ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78308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40496" y="2208276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6" y="2208276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92938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Làm sạch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295144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Sửa lỗi khoảng trắng,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chuẩn hoá Unicode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7472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6" y="3899916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899916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62102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Cấu trúc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986783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Dò tiêu đề chương,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sinh DTBook XML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47472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00016" y="3899916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6" y="3899916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62102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Text-to-Speech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986783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piper (offline)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1 câu = 1 file mp3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47472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0496" y="3899916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0496" y="3899916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362102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Đồng bộ SMIL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986783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Khớp câu văn bản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↔ đoạn audio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1663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9536" y="5591556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5591556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31266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Đóng gói DAISY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678424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DTBook+SMIL+NCX+OPF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60" y="51663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700016" y="5591556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0016" y="5591556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531266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Kiểm tra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678424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Đối chiếu nội bộ +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DAISY Pipeline 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516636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40496" y="5591556"/>
            <a:ext cx="566928" cy="566928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0496" y="5591556"/>
            <a:ext cx="566928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2761"/>
                </a:solidFill>
                <a:latin typeface="Calibri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531266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E2761"/>
                </a:solidFill>
                <a:latin typeface="Cambria"/>
              </a:rPr>
              <a:t>Nộp bài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5678424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Zip + SHA-256 theo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6B708C"/>
                </a:solidFill>
                <a:latin typeface="Calibri"/>
              </a:rPr>
              <a:t>MSSV/ISBN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08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QUYẾT ĐỊNH KỸ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4 lựa chọn định hình cả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27080" cy="1078992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82296" cy="10789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892807"/>
            <a:ext cx="8549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Tesseract dò dòng + VietOCR nhận chữ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95144"/>
            <a:ext cx="8549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6B708C"/>
                </a:solidFill>
                <a:latin typeface="Calibri"/>
              </a:rPr>
              <a:t>VietOCR đọc dấu tiếng Việt chính xác hơn hẳn (~0.90+ độ tin cậy trên trang thân bài) so với để Tesseract tự nhận chữ.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90088"/>
            <a:ext cx="10927080" cy="1078992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990088"/>
            <a:ext cx="82296" cy="10789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TTS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99816"/>
            <a:ext cx="8549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piper (offline), giọng vais1000/medium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502152"/>
            <a:ext cx="8549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6B708C"/>
                </a:solidFill>
                <a:latin typeface="Calibri"/>
              </a:rPr>
              <a:t>Chất lượng cao nhất hiện có cho tiếng Việt trong piper, chạy offline — không cần API hay trả phí.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97096"/>
            <a:ext cx="10927080" cy="1078992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97096"/>
            <a:ext cx="82296" cy="10789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315968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ĐÓNG GÓI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306824"/>
            <a:ext cx="8549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Mỗi chương = 1 quyển DAISY 3 riêng, chung 1 ISBN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709160"/>
            <a:ext cx="8549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6B708C"/>
                </a:solidFill>
                <a:latin typeface="Calibri"/>
              </a:rPr>
              <a:t>Theo đúng quy định môn học cho sách dài, chia theo chương/hồi.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04104"/>
            <a:ext cx="10927080" cy="1078992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404104"/>
            <a:ext cx="82296" cy="10789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CÔNG CỤ CHUẨN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513832"/>
            <a:ext cx="8549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Tự dựng DTBook/SMIL/NCX/OPF bằng 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916168"/>
            <a:ext cx="8549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6B708C"/>
                </a:solidFill>
                <a:latin typeface="Calibri"/>
              </a:rPr>
              <a:t>piper không phải bộ máy TTS mà DAISY Pipeline 2 hỗ trợ trực tiếp — DP2 chỉ dùng để kiểm tra ở bước cuối.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08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THÁCH THỨC 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OCR: điểm tin cậy cao vẫn có thể sai hoàn toàn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Trang thân bài bình thường: ~85–92% độ tin cậy, lỗi chủ yếu là sai dấu đơn lẻ (Tồi → Tôi). Nhưng trang MỞ ĐẦU mỗi chương (tiêu đề in đậm/chữ lớn) thường bị lỗi nặng hơn hẳn — và điểm tin cậy KHÔNG phát hiện được.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5349240" cy="352044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B02A2A"/>
                </a:solidFill>
                <a:latin typeface="Calibri"/>
              </a:rPr>
              <a:t>TRƯỚC — OCR gốc (độ tin cậy 0.87)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1">
                <a:solidFill>
                  <a:srgbClr val="7A1E1E"/>
                </a:solidFill>
                <a:latin typeface="Consolas"/>
              </a:rPr>
              <a:t>“Vì sao đây không phải là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1">
                <a:solidFill>
                  <a:srgbClr val="7A1E1E"/>
                </a:solidFill>
                <a:latin typeface="Consolas"/>
              </a:rPr>
              <a:t>031001001001201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1">
                <a:solidFill>
                  <a:srgbClr val="7A1E1E"/>
                </a:solidFill>
                <a:latin typeface="Consolas"/>
              </a:rPr>
              <a:t>một cuốn sách viết về poker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1">
                <a:solidFill>
                  <a:srgbClr val="7A1E1E"/>
                </a:solidFill>
                <a:latin typeface="Consolas"/>
              </a:rPr>
              <a:t>Nim 26 sáu truổi, rôi nghi rằng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1">
                <a:solidFill>
                  <a:srgbClr val="7A1E1E"/>
                </a:solidFill>
                <a:latin typeface="Consolas"/>
              </a:rPr>
              <a:t>rương hi của mình đã được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1">
                <a:solidFill>
                  <a:srgbClr val="7A1E1E"/>
                </a:solidFill>
                <a:latin typeface="Consolas"/>
              </a:rPr>
              <a:t>hoad định rất rõ ràng.”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349240" cy="3520440"/>
          </a:xfrm>
          <a:prstGeom prst="roundRect">
            <a:avLst>
              <a:gd name="adj" fmla="val 5000"/>
            </a:avLst>
          </a:prstGeom>
          <a:solidFill>
            <a:srgbClr val="EA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27A43"/>
                </a:solidFill>
                <a:latin typeface="Calibri"/>
              </a:rPr>
              <a:t>SAU — đối chiếu ảnh scan gốc, sửa tay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1">
                <a:solidFill>
                  <a:srgbClr val="184D2C"/>
                </a:solidFill>
                <a:latin typeface="Consolas"/>
              </a:rPr>
              <a:t>“Năm 26 sáu tuổi, tôi nghĩ rằng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1">
                <a:solidFill>
                  <a:srgbClr val="184D2C"/>
                </a:solidFill>
                <a:latin typeface="Consolas"/>
              </a:rPr>
              <a:t>tương lai của mình đã được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 i="1">
                <a:solidFill>
                  <a:srgbClr val="184D2C"/>
                </a:solidFill>
                <a:latin typeface="Consolas"/>
              </a:rPr>
              <a:t>hoạch định rất rõ ràng.”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1206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1">
                <a:solidFill>
                  <a:srgbClr val="6B708C"/>
                </a:solidFill>
                <a:latin typeface="Calibri"/>
              </a:rPr>
              <a:t>Chuỗi số bị bịa ra hoàn toàn không tồn tại trên trang — xác nhận bằng cách xem trực tiếp ảnh scan, không tin OCR.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08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THÁCH THỨC 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Lỗi hệ thống tự tạo ra — không phải do OCR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27080" cy="1417320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71700"/>
            <a:ext cx="640080" cy="640080"/>
          </a:xfrm>
          <a:prstGeom prst="ellipse">
            <a:avLst/>
          </a:prstGeom>
          <a:solidFill>
            <a:srgbClr val="E3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71700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911095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mbria"/>
              </a:rPr>
              <a:t>Số thập phân vỡ đôi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286000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alibri"/>
              </a:rPr>
              <a:t>Quy tắc “thêm khoảng trắng sau dấu câu” biến “6,4 triệu” thành “6, 4 triệu” → giọng đọc tách thành 2 số.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74320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E7A4A"/>
                </a:solidFill>
                <a:latin typeface="Calibri"/>
              </a:rPr>
              <a:t>→  Sửa quy tắc để loại trừ trường hợp dấu câu nằm giữa hai chữ số.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19272"/>
            <a:ext cx="10927080" cy="1417320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707892"/>
            <a:ext cx="640080" cy="640080"/>
          </a:xfrm>
          <a:prstGeom prst="ellipse">
            <a:avLst/>
          </a:prstGeom>
          <a:solidFill>
            <a:srgbClr val="E3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07892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447288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mbria"/>
              </a:rPr>
              <a:t>Dữ liệu bị ghi đè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822191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alibri"/>
              </a:rPr>
              <a:t>Build từng chương riêng lẻ trong 1 lượt chạy chung vô tình chỉ giữ lại dữ liệu của chương chạy sau cùng.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279392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E7A4A"/>
                </a:solidFill>
                <a:latin typeface="Calibri"/>
              </a:rPr>
              <a:t>→  Phát hiện bằng cách so khớp danh sách chương thực tế, không tin log “thành công”.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55464"/>
            <a:ext cx="10927080" cy="1417320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244084"/>
            <a:ext cx="640080" cy="640080"/>
          </a:xfrm>
          <a:prstGeom prst="ellipse">
            <a:avLst/>
          </a:prstGeom>
          <a:solidFill>
            <a:srgbClr val="E3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44084"/>
            <a:ext cx="6400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983479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 i="0">
                <a:solidFill>
                  <a:srgbClr val="1E2761"/>
                </a:solidFill>
                <a:latin typeface="Cambria"/>
              </a:rPr>
              <a:t>Audio cũ bị giữ nhầm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358383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alibri"/>
              </a:rPr>
              <a:t>Cơ chế “resume” bỏ qua tái tạo audio khi câu mới trùng ID ngẫu nhiên với câu cũ đã xoá nội dung.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5815583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1E7A4A"/>
                </a:solidFill>
                <a:latin typeface="Calibri"/>
              </a:rPr>
              <a:t>→  Kiểm tra chéo bằng thời gian sửa file thay vì tin số liệu resume báo cáo.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0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THÁCH THỨC 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Giọng đọc tiếng Việt không đọc tốt tên riêng tiếng Anh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120640" cy="4343400"/>
          </a:xfrm>
          <a:prstGeom prst="roundRect">
            <a:avLst>
              <a:gd name="adj" fmla="val 5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VẤN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5720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15000"/>
              </a:lnSpc>
              <a:spcAft>
                <a:spcPts val="1200"/>
              </a:spcAft>
              <a:buFont typeface="Calibri"/>
              <a:buChar char="•"/>
            </a:pPr>
            <a:r>
              <a:rPr sz="1350">
                <a:solidFill>
                  <a:srgbClr val="1A1A2E"/>
                </a:solidFill>
                <a:latin typeface="Calibri"/>
              </a:rPr>
              <a:t>Sách nói về văn hoá poker Mỹ → rất nhiều tên người, địa danh, thuật ngữ tiếng Anh</a:t>
            </a:r>
          </a:p>
          <a:p>
            <a:pPr indent="-182880" marL="182880">
              <a:lnSpc>
                <a:spcPct val="115000"/>
              </a:lnSpc>
              <a:spcAft>
                <a:spcPts val="1200"/>
              </a:spcAft>
              <a:buFont typeface="Calibri"/>
              <a:buChar char="•"/>
            </a:pPr>
            <a:r>
              <a:rPr sz="1350">
                <a:solidFill>
                  <a:srgbClr val="1A1A2E"/>
                </a:solidFill>
                <a:latin typeface="Calibri"/>
              </a:rPr>
              <a:t>Từ “poker” xuất hiện 243 lần trong toàn sách</a:t>
            </a:r>
          </a:p>
          <a:p>
            <a:pPr indent="-182880" marL="182880">
              <a:lnSpc>
                <a:spcPct val="115000"/>
              </a:lnSpc>
              <a:spcAft>
                <a:spcPts val="1200"/>
              </a:spcAft>
              <a:buFont typeface="Calibri"/>
              <a:buChar char="•"/>
            </a:pPr>
            <a:r>
              <a:rPr sz="1350">
                <a:solidFill>
                  <a:srgbClr val="1A1A2E"/>
                </a:solidFill>
                <a:latin typeface="Calibri"/>
              </a:rPr>
              <a:t>piper (giọng thuần Việt) áp quy tắc phát âm tiếng Việt lên nguyên văn tiếng Anh → nghe sai/kỳ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783080"/>
            <a:ext cx="5623560" cy="43434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GIẢI PHÁP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Từ điển phiên âm — chỉ áp dụng cho audio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1752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283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154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CADCFC"/>
                </a:solidFill>
                <a:latin typeface="Calibri"/>
              </a:rPr>
              <a:t>chữ hiển thị (không đổi)      →      giọng đọc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onsolas"/>
              </a:rPr>
              <a:t>poker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474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2A93B"/>
                </a:solidFill>
                <a:latin typeface="Consolas"/>
              </a:rPr>
              <a:t>pô kơ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8862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</a:rPr>
              <a:t>Pennsylvania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886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onsolas"/>
              </a:rPr>
              <a:t>Pen sồn vây 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57200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Ưu tiên xử lý theo tần suất xuất hiện — “poker” làm trước tiên (243 lần → 222 câu tái tạo lại có chọn lọc, không làm lại cả sách).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08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CHẤT LƯỢNG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3 lớp kiểm tra — vì điểm tin cậy OCR là chưa đủ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20440" cy="4023360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1680" y="212598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125980"/>
            <a:ext cx="777240" cy="777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Kiểm tra tự động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971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B708C"/>
                </a:solidFill>
                <a:latin typeface="Calibri"/>
              </a:rPr>
              <a:t>Liên kết SMIL ↔ DTBook ↔ NCX khớp nhau, số trang đúng, mã ISBN thống nhất giữa các chương.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20240"/>
            <a:ext cx="3520440" cy="4023360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06440" y="212598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125980"/>
            <a:ext cx="777240" cy="777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6324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Đo thời lượng thật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657600"/>
            <a:ext cx="2971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B708C"/>
                </a:solidFill>
                <a:latin typeface="Calibri"/>
              </a:rPr>
              <a:t>Tự động cộng audio thật theo từng thành viên, so với yêu cầu tối thiểu 1 giờ/người.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20240"/>
            <a:ext cx="3520440" cy="4023360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212598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125980"/>
            <a:ext cx="777240" cy="777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06324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mbria"/>
              </a:rPr>
              <a:t>Nghe &amp; đối chiếu ảnh gốc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657600"/>
            <a:ext cx="29718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6B708C"/>
                </a:solidFill>
                <a:latin typeface="Calibri"/>
              </a:rPr>
              <a:t>Kênh hiệu quả nhất: nghe audio, nghi ngờ chỗ nào thì mở lại đúng trang scan để xác minh.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08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5852160"/>
            <a:ext cx="2743200" cy="2743200"/>
          </a:xfrm>
          <a:prstGeom prst="ellipse">
            <a:avLst/>
          </a:prstGeom>
          <a:solidFill>
            <a:srgbClr val="27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KẾT QUẢ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Toàn bộ 322 trang, 7 phần nội dung, vượt xa yêu cầu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2A93B"/>
                </a:solidFill>
                <a:latin typeface="Cambria"/>
              </a:rPr>
              <a:t>322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trang sách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đã xử lý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0312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2A93B"/>
                </a:solidFill>
                <a:latin typeface="Cambria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2004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phần nội dung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(Dẫn Nhập + 6 chương)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2A93B"/>
                </a:solidFill>
                <a:latin typeface="Cambria"/>
              </a:rPr>
              <a:t>6h42m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audio thật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(so với 2h yêu cầu)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103120"/>
            <a:ext cx="2697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F2A93B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32004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thành viên,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mỗi người &gt; 1 giờ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10927080" cy="18288"/>
          </a:xfrm>
          <a:prstGeom prst="rect">
            <a:avLst/>
          </a:prstGeom>
          <a:solidFill>
            <a:srgbClr val="354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10927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Mỗi chương đóng gói thành một quyển DAISY 3 độc lập (DTBook + SMIL + NCX + OPF), dùng chung một mã ISBN thật (9780735216358) và metadata đầy đủ theo đúng biểu mẫu môn học (Title, Source, Creator, Subject, Description, Publisher, Date, Language).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08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SẢN PHẨM NỘP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Cấu trúc thư mục &amp; metadata theo đúng quy định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943600" cy="4343400"/>
          </a:xfrm>
          <a:prstGeom prst="roundRect">
            <a:avLst>
              <a:gd name="adj" fmla="val 5000"/>
            </a:avLst>
          </a:prstGeom>
          <a:solidFill>
            <a:srgbClr val="11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0" i="0">
                <a:solidFill>
                  <a:srgbClr val="9CE8B8"/>
                </a:solidFill>
                <a:latin typeface="Consolas"/>
              </a:rPr>
              <a:t>25C11016_25C11003/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0" i="0">
                <a:solidFill>
                  <a:srgbClr val="9CE8B8"/>
                </a:solidFill>
                <a:latin typeface="Consolas"/>
              </a:rPr>
              <a:t>├─ Tu_Duy_Dat_Cuoc-intro/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0" i="0">
                <a:solidFill>
                  <a:srgbClr val="9CE8B8"/>
                </a:solidFill>
                <a:latin typeface="Consolas"/>
              </a:rPr>
              <a:t>│   ├─ Tu_Duy_Dat_Cuoc.zip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0" i="0">
                <a:solidFill>
                  <a:srgbClr val="9CE8B8"/>
                </a:solidFill>
                <a:latin typeface="Consolas"/>
              </a:rPr>
              <a:t>│   └─ Tu_Duy_Dat_Cuoc_sha256sums.txt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0" i="0">
                <a:solidFill>
                  <a:srgbClr val="9CE8B8"/>
                </a:solidFill>
                <a:latin typeface="Consolas"/>
              </a:rPr>
              <a:t>├─ Tu_Duy_Dat_Cuoc-Chuong 1/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0" i="0">
                <a:solidFill>
                  <a:srgbClr val="9CE8B8"/>
                </a:solidFill>
                <a:latin typeface="Consolas"/>
              </a:rPr>
              <a:t>├─ Tu_Duy_Dat_Cuoc-Chuong 2/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0" i="0">
                <a:solidFill>
                  <a:srgbClr val="9CE8B8"/>
                </a:solidFill>
                <a:latin typeface="Consolas"/>
              </a:rPr>
              <a:t>├─ ...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0" i="0">
                <a:solidFill>
                  <a:srgbClr val="9CE8B8"/>
                </a:solidFill>
                <a:latin typeface="Consolas"/>
              </a:rPr>
              <a:t>└─ Tu_Duy_Dat_Cuoc-Chuong 6/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783080"/>
            <a:ext cx="4800600" cy="4343400"/>
          </a:xfrm>
          <a:prstGeom prst="roundRect">
            <a:avLst>
              <a:gd name="adj" fmla="val 5000"/>
            </a:avLst>
          </a:prstGeom>
          <a:solidFill>
            <a:srgbClr val="F3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20116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METADATA (dc-metadata)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4688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6B708C"/>
                </a:solidFill>
                <a:latin typeface="Calibri"/>
              </a:rPr>
              <a:t>Source (ISBN)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4688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onsolas"/>
              </a:rPr>
              <a:t>9780735216358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9260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6B708C"/>
                </a:solidFill>
                <a:latin typeface="Calibri"/>
              </a:rPr>
              <a:t>Creator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onsolas"/>
              </a:rPr>
              <a:t>Annie Duke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3832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6B708C"/>
                </a:solidFill>
                <a:latin typeface="Calibri"/>
              </a:rPr>
              <a:t>Publisher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3832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onsolas"/>
              </a:rPr>
              <a:t>NXB Trẻ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8404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6B708C"/>
                </a:solidFill>
                <a:latin typeface="Calibri"/>
              </a:rPr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840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onsolas"/>
              </a:rPr>
              <a:t>2018-02-06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297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6B708C"/>
                </a:solidFill>
                <a:latin typeface="Calibri"/>
              </a:rPr>
              <a:t>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2976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onsolas"/>
              </a:rPr>
              <a:t>vi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7548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6B708C"/>
                </a:solidFill>
                <a:latin typeface="Calibri"/>
              </a:rPr>
              <a:t>Subject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7548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A1A2E"/>
                </a:solidFill>
                <a:latin typeface="Consolas"/>
              </a:rPr>
              <a:t>Tâm lý học &amp; PT cá nhân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30352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1">
                <a:solidFill>
                  <a:srgbClr val="1E7A4A"/>
                </a:solidFill>
                <a:latin typeface="Calibri"/>
              </a:rPr>
              <a:t>→ ISBN dùng chung khắc phục lỗi “dc:Identifier khác nhau giữa các chương”.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0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NHÌN THẲNG VÀO HẠN CHẾ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E2761"/>
                </a:solidFill>
                <a:latin typeface="Cambria"/>
              </a:rPr>
              <a:t>Những gì chưa hoàn thiện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25000"/>
              </a:lnSpc>
              <a:spcAft>
                <a:spcPts val="2000"/>
              </a:spcAft>
              <a:buFont typeface="Calibri"/>
              <a:buChar char="•"/>
            </a:pPr>
            <a:r>
              <a:rPr sz="1500">
                <a:solidFill>
                  <a:srgbClr val="1A1A2E"/>
                </a:solidFill>
                <a:latin typeface="Calibri"/>
              </a:rPr>
              <a:t>Phần phụ lục (Lời Cảm Ơn, Chú Thích, Danh Mục Sách Tham Khảo, ~37 trang) chưa được đọc — giá trị nghe thấp, yêu cầu thời lượng đã vượt xa nên không bắt buộc.</a:t>
            </a:r>
          </a:p>
          <a:p>
            <a:pPr indent="-182880" marL="182880">
              <a:lnSpc>
                <a:spcPct val="125000"/>
              </a:lnSpc>
              <a:spcAft>
                <a:spcPts val="2000"/>
              </a:spcAft>
              <a:buFont typeface="Calibri"/>
              <a:buChar char="•"/>
            </a:pPr>
            <a:r>
              <a:rPr sz="1500">
                <a:solidFill>
                  <a:srgbClr val="1A1A2E"/>
                </a:solidFill>
                <a:latin typeface="Calibri"/>
              </a:rPr>
              <a:t>Chưa chạy trình kiểm tra chính thức của DAISY Pipeline 2 — mới chỉ có kiểm tra nội bộ tự viết.</a:t>
            </a:r>
          </a:p>
          <a:p>
            <a:pPr indent="-182880" marL="182880">
              <a:lnSpc>
                <a:spcPct val="125000"/>
              </a:lnSpc>
              <a:spcAft>
                <a:spcPts val="2000"/>
              </a:spcAft>
              <a:buFont typeface="Calibri"/>
              <a:buChar char="•"/>
            </a:pPr>
            <a:r>
              <a:rPr sz="1500">
                <a:solidFill>
                  <a:srgbClr val="1A1A2E"/>
                </a:solidFill>
                <a:latin typeface="Calibri"/>
              </a:rPr>
              <a:t>Từ điển phiên âm tiếng Anh là suy đoán hợp lý, chưa được người nghe bản ngữ xác nhận toàn bộ.</a:t>
            </a:r>
          </a:p>
          <a:p>
            <a:pPr indent="-182880" marL="182880">
              <a:lnSpc>
                <a:spcPct val="125000"/>
              </a:lnSpc>
              <a:spcAft>
                <a:spcPts val="2000"/>
              </a:spcAft>
              <a:buFont typeface="Calibri"/>
              <a:buChar char="•"/>
            </a:pPr>
            <a:r>
              <a:rPr sz="1500">
                <a:solidFill>
                  <a:srgbClr val="1A1A2E"/>
                </a:solidFill>
                <a:latin typeface="Calibri"/>
              </a:rPr>
              <a:t>Đây là bản dịch có bản quyền hiện hành — cần xác nhận môn học đã cho phép sử dụng.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0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93B"/>
                </a:solidFill>
                <a:latin typeface="Calibri"/>
              </a:rPr>
              <a:t>DEMO TRỰC TIẾP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3 bước trình diễn</a:t>
            </a:r>
          </a:p>
        </p:txBody>
      </p:sp>
      <p:sp>
        <p:nvSpPr>
          <p:cNvPr id="5" name="Oval 4"/>
          <p:cNvSpPr/>
          <p:nvPr/>
        </p:nvSpPr>
        <p:spPr>
          <a:xfrm>
            <a:off x="845820" y="212598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" y="2125980"/>
            <a:ext cx="777240" cy="777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5740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Nghe audio mẫu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14600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Phát trực tiếp 1 câu đã sửa lỗi (vd. câu mở đầu Dẫn Nhập) — so sánh trước/sau.</a:t>
            </a:r>
          </a:p>
        </p:txBody>
      </p:sp>
      <p:sp>
        <p:nvSpPr>
          <p:cNvPr id="9" name="Oval 8"/>
          <p:cNvSpPr/>
          <p:nvPr/>
        </p:nvSpPr>
        <p:spPr>
          <a:xfrm>
            <a:off x="845820" y="349758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" y="3497580"/>
            <a:ext cx="777240" cy="777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2900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Mở sách trong Thorium Reader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886200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Giải nén 1 chương .zip, mở book.opf — trình chiếu điều hướng đồng bộ chữ–giọng theo câu, theo trang.</a:t>
            </a:r>
          </a:p>
        </p:txBody>
      </p:sp>
      <p:sp>
        <p:nvSpPr>
          <p:cNvPr id="13" name="Oval 12"/>
          <p:cNvSpPr/>
          <p:nvPr/>
        </p:nvSpPr>
        <p:spPr>
          <a:xfrm>
            <a:off x="845820" y="4869180"/>
            <a:ext cx="777240" cy="77724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" y="4869180"/>
            <a:ext cx="777240" cy="7772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80060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mbria"/>
              </a:rPr>
              <a:t>Chỉ ra một lỗi đã tìm &amp; sửa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257800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Đối chiếu ảnh scan gốc với bản văn bản đã làm sạch, minh hoạ quy trình QA thực tế.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708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2011680"/>
            <a:ext cx="2926080" cy="2926080"/>
          </a:xfrm>
          <a:prstGeom prst="ellipse">
            <a:avLst/>
          </a:prstGeom>
          <a:solidFill>
            <a:srgbClr val="27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737360" y="6035040"/>
            <a:ext cx="2377440" cy="2377440"/>
          </a:xfrm>
          <a:prstGeom prst="ellipse">
            <a:avLst/>
          </a:prstGeom>
          <a:solidFill>
            <a:srgbClr val="27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Cảm ơn thầy/cô đã lắng nghe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F2A93B"/>
                </a:solidFill>
                <a:latin typeface="Calibri"/>
              </a:rPr>
              <a:t>Câu hỏi &amp; thảo luận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MSSV: 25C11016  ·  25C11003      |      Tư Duy Đặt Cược — DAISY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